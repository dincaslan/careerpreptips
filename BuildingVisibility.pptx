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7" r:id="rId2"/>
    <p:sldId id="258" r:id="rId3"/>
    <p:sldId id="266" r:id="rId4"/>
    <p:sldId id="263" r:id="rId5"/>
    <p:sldId id="264" r:id="rId6"/>
    <p:sldId id="265"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936"/>
    <p:restoredTop sz="94677"/>
  </p:normalViewPr>
  <p:slideViewPr>
    <p:cSldViewPr snapToGrid="0">
      <p:cViewPr varScale="1">
        <p:scale>
          <a:sx n="88" d="100"/>
          <a:sy n="88" d="100"/>
        </p:scale>
        <p:origin x="192"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18823B-08CE-8041-B660-8BFDB66B50C8}" type="datetimeFigureOut">
              <a:rPr lang="en-US" smtClean="0"/>
              <a:t>10/8/26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503FF5-87A6-774A-B1FB-CFD2CCAF540F}" type="slidenum">
              <a:rPr lang="en-US" smtClean="0"/>
              <a:t>‹#›</a:t>
            </a:fld>
            <a:endParaRPr lang="en-US"/>
          </a:p>
        </p:txBody>
      </p:sp>
    </p:spTree>
    <p:extLst>
      <p:ext uri="{BB962C8B-B14F-4D97-AF65-F5344CB8AC3E}">
        <p14:creationId xmlns:p14="http://schemas.microsoft.com/office/powerpoint/2010/main" val="2822772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of self promotion, you ignore the contributions of others and collaborations, while in case of strategic narration you appreciate everyone s contribution and highlight yours as independent identity and as part of team (never underestimate the people you work, these relationships/trust will be one of the outputs of whatever you are building itself, idk perhaps we can highlight this in networking as well)</a:t>
            </a:r>
          </a:p>
          <a:p>
            <a:r>
              <a:rPr lang="en-US" dirty="0"/>
              <a:t>On the other hand, we might accept that not everyone might be happy with online presence as themselves (foe example I rather my work to be present than me all the time. But sometimes you need to be there to show the link with work and the worker itself to get the recognition). Understand that not everyone might be comfortable as some sort of celebrity online (it is better not to confuse this with that).</a:t>
            </a:r>
          </a:p>
        </p:txBody>
      </p:sp>
      <p:sp>
        <p:nvSpPr>
          <p:cNvPr id="4" name="Slide Number Placeholder 3"/>
          <p:cNvSpPr>
            <a:spLocks noGrp="1"/>
          </p:cNvSpPr>
          <p:nvPr>
            <p:ph type="sldNum" sz="quarter" idx="5"/>
          </p:nvPr>
        </p:nvSpPr>
        <p:spPr/>
        <p:txBody>
          <a:bodyPr/>
          <a:lstStyle/>
          <a:p>
            <a:fld id="{E2503FF5-87A6-774A-B1FB-CFD2CCAF540F}" type="slidenum">
              <a:rPr lang="en-US" smtClean="0"/>
              <a:t>2</a:t>
            </a:fld>
            <a:endParaRPr lang="en-US"/>
          </a:p>
        </p:txBody>
      </p:sp>
    </p:spTree>
    <p:extLst>
      <p:ext uri="{BB962C8B-B14F-4D97-AF65-F5344CB8AC3E}">
        <p14:creationId xmlns:p14="http://schemas.microsoft.com/office/powerpoint/2010/main" val="1957908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know for academic but how about other career trajectories including the academic</a:t>
            </a:r>
          </a:p>
        </p:txBody>
      </p:sp>
      <p:sp>
        <p:nvSpPr>
          <p:cNvPr id="4" name="Slide Number Placeholder 3"/>
          <p:cNvSpPr>
            <a:spLocks noGrp="1"/>
          </p:cNvSpPr>
          <p:nvPr>
            <p:ph type="sldNum" sz="quarter" idx="5"/>
          </p:nvPr>
        </p:nvSpPr>
        <p:spPr/>
        <p:txBody>
          <a:bodyPr/>
          <a:lstStyle/>
          <a:p>
            <a:fld id="{E2503FF5-87A6-774A-B1FB-CFD2CCAF540F}" type="slidenum">
              <a:rPr lang="en-US" smtClean="0"/>
              <a:t>3</a:t>
            </a:fld>
            <a:endParaRPr lang="en-US"/>
          </a:p>
        </p:txBody>
      </p:sp>
    </p:spTree>
    <p:extLst>
      <p:ext uri="{BB962C8B-B14F-4D97-AF65-F5344CB8AC3E}">
        <p14:creationId xmlns:p14="http://schemas.microsoft.com/office/powerpoint/2010/main" val="335822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7182E-509E-B28D-1EE9-FD712FA5A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B3734-5B38-710E-3229-2E805F033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7A8EB3-DC16-9D42-8FCF-DD65BC943AF6}"/>
              </a:ext>
            </a:extLst>
          </p:cNvPr>
          <p:cNvSpPr>
            <a:spLocks noGrp="1"/>
          </p:cNvSpPr>
          <p:nvPr>
            <p:ph type="body" idx="1"/>
          </p:nvPr>
        </p:nvSpPr>
        <p:spPr/>
        <p:txBody>
          <a:bodyPr/>
          <a:lstStyle/>
          <a:p>
            <a:r>
              <a:rPr lang="en-US" dirty="0"/>
              <a:t>Twitter is dead but luckily, we have other ways of showing up.</a:t>
            </a:r>
          </a:p>
          <a:p>
            <a:r>
              <a:rPr lang="en-US" dirty="0"/>
              <a:t>Here you will emphasize what Stephen turner emphasized in the blogpost referring to him. Personal website is first (for example starting with </a:t>
            </a:r>
            <a:r>
              <a:rPr lang="en-US" dirty="0" err="1"/>
              <a:t>substack</a:t>
            </a:r>
            <a:r>
              <a:rPr lang="en-US" dirty="0"/>
              <a:t> and the other platforms to go, not just for technical blogging).</a:t>
            </a:r>
          </a:p>
        </p:txBody>
      </p:sp>
      <p:sp>
        <p:nvSpPr>
          <p:cNvPr id="4" name="Slide Number Placeholder 3">
            <a:extLst>
              <a:ext uri="{FF2B5EF4-FFF2-40B4-BE49-F238E27FC236}">
                <a16:creationId xmlns:a16="http://schemas.microsoft.com/office/drawing/2014/main" id="{E7412AEF-C32C-7409-D7DA-90971911AB91}"/>
              </a:ext>
            </a:extLst>
          </p:cNvPr>
          <p:cNvSpPr>
            <a:spLocks noGrp="1"/>
          </p:cNvSpPr>
          <p:nvPr>
            <p:ph type="sldNum" sz="quarter" idx="5"/>
          </p:nvPr>
        </p:nvSpPr>
        <p:spPr/>
        <p:txBody>
          <a:bodyPr/>
          <a:lstStyle/>
          <a:p>
            <a:fld id="{E2503FF5-87A6-774A-B1FB-CFD2CCAF540F}" type="slidenum">
              <a:rPr lang="en-US" smtClean="0"/>
              <a:t>4</a:t>
            </a:fld>
            <a:endParaRPr lang="en-US"/>
          </a:p>
        </p:txBody>
      </p:sp>
    </p:spTree>
    <p:extLst>
      <p:ext uri="{BB962C8B-B14F-4D97-AF65-F5344CB8AC3E}">
        <p14:creationId xmlns:p14="http://schemas.microsoft.com/office/powerpoint/2010/main" val="2212913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resources: https://</a:t>
            </a:r>
            <a:r>
              <a:rPr lang="en-US" dirty="0" err="1"/>
              <a:t>www.essex.ac.uk</a:t>
            </a:r>
            <a:r>
              <a:rPr lang="en-US" dirty="0"/>
              <a:t>/blog/posts/2023/12/08/building-your-visibility-profile-and-networks-as-a-researcher-on-social-media</a:t>
            </a:r>
          </a:p>
          <a:p>
            <a:r>
              <a:rPr lang="en-US" dirty="0"/>
              <a:t>Also some examples here might help to </a:t>
            </a:r>
            <a:r>
              <a:rPr lang="en-US" dirty="0" err="1"/>
              <a:t>enhage</a:t>
            </a:r>
            <a:r>
              <a:rPr lang="en-US" dirty="0"/>
              <a:t> the community in the session.</a:t>
            </a:r>
          </a:p>
        </p:txBody>
      </p:sp>
      <p:sp>
        <p:nvSpPr>
          <p:cNvPr id="4" name="Slide Number Placeholder 3"/>
          <p:cNvSpPr>
            <a:spLocks noGrp="1"/>
          </p:cNvSpPr>
          <p:nvPr>
            <p:ph type="sldNum" sz="quarter" idx="5"/>
          </p:nvPr>
        </p:nvSpPr>
        <p:spPr/>
        <p:txBody>
          <a:bodyPr/>
          <a:lstStyle/>
          <a:p>
            <a:fld id="{E2503FF5-87A6-774A-B1FB-CFD2CCAF540F}" type="slidenum">
              <a:rPr lang="en-US" smtClean="0"/>
              <a:t>5</a:t>
            </a:fld>
            <a:endParaRPr lang="en-US"/>
          </a:p>
        </p:txBody>
      </p:sp>
    </p:spTree>
    <p:extLst>
      <p:ext uri="{BB962C8B-B14F-4D97-AF65-F5344CB8AC3E}">
        <p14:creationId xmlns:p14="http://schemas.microsoft.com/office/powerpoint/2010/main" val="4005937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00C4D-9010-A2F9-1ABE-95E9FAA2E4F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579720C-0A20-6AC3-CC66-2CB57FE04E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2D1A24D-EA7C-7711-61F2-A9AAC93440E0}"/>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5" name="Footer Placeholder 4">
            <a:extLst>
              <a:ext uri="{FF2B5EF4-FFF2-40B4-BE49-F238E27FC236}">
                <a16:creationId xmlns:a16="http://schemas.microsoft.com/office/drawing/2014/main" id="{65FFFCE6-4B41-AC7E-B59E-C020BC00A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C66733-C76C-54B3-0ECD-F69B38F3E672}"/>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3128823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027C2-62D2-4204-85C8-DA0F02A5613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3735DDD-5A6A-B511-0296-4BC71F806F2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A6600BD-32A1-2C48-4855-FF00B6C84D26}"/>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5" name="Footer Placeholder 4">
            <a:extLst>
              <a:ext uri="{FF2B5EF4-FFF2-40B4-BE49-F238E27FC236}">
                <a16:creationId xmlns:a16="http://schemas.microsoft.com/office/drawing/2014/main" id="{9495A914-D5F8-A8E7-4C32-B99C5713C6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9F160E-148A-7AB6-2713-7176A29CD29D}"/>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3190829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6CB37-5576-32FD-6784-7B3C3F0C871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4DF87A1-1543-BEE2-BCFF-5C6EBF8BDA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771A1A4-0E9C-0096-6C5E-B97DBB2F90A0}"/>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5" name="Footer Placeholder 4">
            <a:extLst>
              <a:ext uri="{FF2B5EF4-FFF2-40B4-BE49-F238E27FC236}">
                <a16:creationId xmlns:a16="http://schemas.microsoft.com/office/drawing/2014/main" id="{9A60F419-8FEF-D2C9-A514-451EDD7EB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CA792E-CE2E-F656-D1BE-23E9C3EDB924}"/>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3225811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CBE7A-2082-D1A1-DB75-E91B42B4AC4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4EEBFC2-5E07-21BE-10CF-50BA46CBE91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AAB1239-13E2-E82C-9297-6FA0417FCEF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B514807-4F7B-15BD-D077-B1C628D3EA65}"/>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6" name="Footer Placeholder 5">
            <a:extLst>
              <a:ext uri="{FF2B5EF4-FFF2-40B4-BE49-F238E27FC236}">
                <a16:creationId xmlns:a16="http://schemas.microsoft.com/office/drawing/2014/main" id="{E70F59C2-369F-71C0-01A5-B1B5710DD0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2590B8-8976-B52F-C61D-FBC5C3B7BFAF}"/>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2305868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83E8-DD1A-E515-3486-2F0F3C46DD8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C81D13C-DE38-6E73-2BED-16849AD485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F937968-B253-F544-207B-C4E95F02CF1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AEFF39B-D41C-0DF6-E44E-698E318570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DBC1FD0-4020-9DD2-095B-2AFBDF8E72B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774AB0F-F21E-9F02-F310-88125552A1CC}"/>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8" name="Footer Placeholder 7">
            <a:extLst>
              <a:ext uri="{FF2B5EF4-FFF2-40B4-BE49-F238E27FC236}">
                <a16:creationId xmlns:a16="http://schemas.microsoft.com/office/drawing/2014/main" id="{71580817-701E-F707-EDBB-A8C31E2685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B57CFB-B027-DEE6-144E-82FE5E297924}"/>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348602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8ABC9-4E97-DA5B-E7E4-AB3374BB08F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5ED0ADC-39EC-0906-7ABB-EE579CCBECAD}"/>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4" name="Footer Placeholder 3">
            <a:extLst>
              <a:ext uri="{FF2B5EF4-FFF2-40B4-BE49-F238E27FC236}">
                <a16:creationId xmlns:a16="http://schemas.microsoft.com/office/drawing/2014/main" id="{000F006B-F7BE-0268-E5C5-7FA65D70052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FC78FCE-60B9-DF03-0916-F5DE00095723}"/>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2007174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B3A65E-13A8-8035-2E68-B62ED2DDBF2E}"/>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3" name="Footer Placeholder 2">
            <a:extLst>
              <a:ext uri="{FF2B5EF4-FFF2-40B4-BE49-F238E27FC236}">
                <a16:creationId xmlns:a16="http://schemas.microsoft.com/office/drawing/2014/main" id="{EB4D4F68-0939-EA86-EBAD-16CA054CEF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2B209F-5BD4-EE65-645A-F01522472D7A}"/>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1196346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23A23-D001-5F56-B031-EE3B26E2453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A748D1D-4E5E-7026-FAF1-1E6E0405CE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FE56123-1BCA-DCCD-88E3-1951463C6B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0D7D9A2-43FA-8EE7-375D-11EE8379F485}"/>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6" name="Footer Placeholder 5">
            <a:extLst>
              <a:ext uri="{FF2B5EF4-FFF2-40B4-BE49-F238E27FC236}">
                <a16:creationId xmlns:a16="http://schemas.microsoft.com/office/drawing/2014/main" id="{3B87A80F-7FA0-4891-1F3D-AA2A72A968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DBB69F-B40D-1BC8-7F70-A5C06E3CFBFA}"/>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15179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F8B2D-2AC0-0588-D45F-11392D48DF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7970781-E950-61A5-E667-EC27528EB2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E37F21-C470-1845-04F7-C3E0B7E173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6A45E5-CB63-D7A9-BA8E-5BE7CEF8B3D0}"/>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6" name="Footer Placeholder 5">
            <a:extLst>
              <a:ext uri="{FF2B5EF4-FFF2-40B4-BE49-F238E27FC236}">
                <a16:creationId xmlns:a16="http://schemas.microsoft.com/office/drawing/2014/main" id="{6F07CE8E-E6B7-5D83-E1B5-1E6F451050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51E251-5C1F-FB7B-515E-646EE1C39497}"/>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1253860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CCBCB-99BC-EB2E-7D46-7F10A5B31AF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A4CCCAE-8054-1D00-8EE6-43878115642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54E8DC-52A6-3064-651C-326A06F6A724}"/>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5" name="Footer Placeholder 4">
            <a:extLst>
              <a:ext uri="{FF2B5EF4-FFF2-40B4-BE49-F238E27FC236}">
                <a16:creationId xmlns:a16="http://schemas.microsoft.com/office/drawing/2014/main" id="{3CB42624-EF9C-ECD0-7227-838ED94763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8786FF-A37F-338B-260B-57A29A3D3C93}"/>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1362705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DEB6B7-6F33-1A00-D7A9-5FFE956CB26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B93A080-D7F8-601B-B068-D00EAD0086A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DD15011-CDFC-FB9F-34C2-6612BE29BD67}"/>
              </a:ext>
            </a:extLst>
          </p:cNvPr>
          <p:cNvSpPr>
            <a:spLocks noGrp="1"/>
          </p:cNvSpPr>
          <p:nvPr>
            <p:ph type="dt" sz="half" idx="10"/>
          </p:nvPr>
        </p:nvSpPr>
        <p:spPr/>
        <p:txBody>
          <a:bodyPr/>
          <a:lstStyle/>
          <a:p>
            <a:fld id="{68A4AFBA-8499-5C49-BABC-289E229DCD48}" type="datetimeFigureOut">
              <a:rPr lang="en-US" smtClean="0"/>
              <a:t>10/8/26</a:t>
            </a:fld>
            <a:endParaRPr lang="en-US"/>
          </a:p>
        </p:txBody>
      </p:sp>
      <p:sp>
        <p:nvSpPr>
          <p:cNvPr id="5" name="Footer Placeholder 4">
            <a:extLst>
              <a:ext uri="{FF2B5EF4-FFF2-40B4-BE49-F238E27FC236}">
                <a16:creationId xmlns:a16="http://schemas.microsoft.com/office/drawing/2014/main" id="{5AB00FF6-FBFC-CC97-DE0B-6368B835D2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C70D2D-5E41-AFDA-3A0D-3889FC295D0F}"/>
              </a:ext>
            </a:extLst>
          </p:cNvPr>
          <p:cNvSpPr>
            <a:spLocks noGrp="1"/>
          </p:cNvSpPr>
          <p:nvPr>
            <p:ph type="sldNum" sz="quarter" idx="12"/>
          </p:nvPr>
        </p:nvSpPr>
        <p:spPr/>
        <p:txBody>
          <a:bodyPr/>
          <a:lstStyle/>
          <a:p>
            <a:fld id="{B2826AB0-8252-8E45-B96E-F65E69118C05}" type="slidenum">
              <a:rPr lang="en-US" smtClean="0"/>
              <a:t>‹#›</a:t>
            </a:fld>
            <a:endParaRPr lang="en-US"/>
          </a:p>
        </p:txBody>
      </p:sp>
    </p:spTree>
    <p:extLst>
      <p:ext uri="{BB962C8B-B14F-4D97-AF65-F5344CB8AC3E}">
        <p14:creationId xmlns:p14="http://schemas.microsoft.com/office/powerpoint/2010/main" val="26998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633ED6-22FB-E2D0-8FC6-D6397DFC19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0C0F94B-989B-3700-7359-DD8CC1D0B0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77FE1AD-01C5-7506-09A2-9B8A6FF177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A4AFBA-8499-5C49-BABC-289E229DCD48}" type="datetimeFigureOut">
              <a:rPr lang="en-US" smtClean="0"/>
              <a:t>10/8/26</a:t>
            </a:fld>
            <a:endParaRPr lang="en-US"/>
          </a:p>
        </p:txBody>
      </p:sp>
      <p:sp>
        <p:nvSpPr>
          <p:cNvPr id="5" name="Footer Placeholder 4">
            <a:extLst>
              <a:ext uri="{FF2B5EF4-FFF2-40B4-BE49-F238E27FC236}">
                <a16:creationId xmlns:a16="http://schemas.microsoft.com/office/drawing/2014/main" id="{D7011A2E-22DA-2E15-6ED0-009B292BCD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6338C9-485A-EB68-CD3E-3CEB852FD8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826AB0-8252-8E45-B96E-F65E69118C05}" type="slidenum">
              <a:rPr lang="en-US" smtClean="0"/>
              <a:t>‹#›</a:t>
            </a:fld>
            <a:endParaRPr lang="en-US"/>
          </a:p>
        </p:txBody>
      </p:sp>
    </p:spTree>
    <p:extLst>
      <p:ext uri="{BB962C8B-B14F-4D97-AF65-F5344CB8AC3E}">
        <p14:creationId xmlns:p14="http://schemas.microsoft.com/office/powerpoint/2010/main" val="2214015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degruyterbrill.com/publishing/for-authors/tools-resources/how-to-promote-your-work-on-social-media" TargetMode="External"/><Relationship Id="rId2" Type="http://schemas.openxmlformats.org/officeDocument/2006/relationships/hyperlink" Target="https://blog.stephenturner.us/p/technical-blogging" TargetMode="External"/><Relationship Id="rId1" Type="http://schemas.openxmlformats.org/officeDocument/2006/relationships/slideLayout" Target="../slideLayouts/slideLayout2.xml"/><Relationship Id="rId5" Type="http://schemas.openxmlformats.org/officeDocument/2006/relationships/hyperlink" Target="https://www.timeshighereducation.com/campus/building-your-research-profile-social-media-focus-linkedin" TargetMode="External"/><Relationship Id="rId4" Type="http://schemas.openxmlformats.org/officeDocument/2006/relationships/hyperlink" Target="https://www.essex.ac.uk/blog/posts/2023/12/08/building-your-visibility-profile-and-networks-as-a-researcher-on-social-media"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7854A-701C-0C46-AF67-78562C3D0D92}"/>
              </a:ext>
            </a:extLst>
          </p:cNvPr>
          <p:cNvSpPr>
            <a:spLocks noGrp="1"/>
          </p:cNvSpPr>
          <p:nvPr>
            <p:ph type="ctrTitle"/>
          </p:nvPr>
        </p:nvSpPr>
        <p:spPr>
          <a:xfrm>
            <a:off x="1524000" y="2874962"/>
            <a:ext cx="9144000" cy="840695"/>
          </a:xfrm>
        </p:spPr>
        <p:txBody>
          <a:bodyPr>
            <a:normAutofit/>
          </a:bodyPr>
          <a:lstStyle/>
          <a:p>
            <a:r>
              <a:rPr lang="en-US" sz="4000" dirty="0">
                <a:latin typeface="Arial Nova" panose="020B0504020202020204" pitchFamily="34" charset="0"/>
              </a:rPr>
              <a:t>How to Build Digital Visibility?</a:t>
            </a:r>
            <a:endParaRPr lang="en-US" sz="3200" dirty="0">
              <a:latin typeface="Arial Nova" panose="020B0504020202020204" pitchFamily="34" charset="0"/>
            </a:endParaRPr>
          </a:p>
        </p:txBody>
      </p:sp>
      <p:sp>
        <p:nvSpPr>
          <p:cNvPr id="3" name="Subtitle 2">
            <a:extLst>
              <a:ext uri="{FF2B5EF4-FFF2-40B4-BE49-F238E27FC236}">
                <a16:creationId xmlns:a16="http://schemas.microsoft.com/office/drawing/2014/main" id="{87D9C729-07E5-152B-32FB-1F5BBD97B181}"/>
              </a:ext>
            </a:extLst>
          </p:cNvPr>
          <p:cNvSpPr>
            <a:spLocks noGrp="1"/>
          </p:cNvSpPr>
          <p:nvPr>
            <p:ph type="subTitle" idx="1"/>
          </p:nvPr>
        </p:nvSpPr>
        <p:spPr>
          <a:xfrm>
            <a:off x="1524000" y="4129314"/>
            <a:ext cx="9144000" cy="1655762"/>
          </a:xfrm>
        </p:spPr>
        <p:txBody>
          <a:bodyPr>
            <a:normAutofit/>
          </a:bodyPr>
          <a:lstStyle/>
          <a:p>
            <a:r>
              <a:rPr lang="en-US" dirty="0">
                <a:latin typeface="Arial Nova" panose="020B0504020202020204" pitchFamily="34" charset="0"/>
              </a:rPr>
              <a:t>Presentation Preparation</a:t>
            </a:r>
          </a:p>
          <a:p>
            <a:r>
              <a:rPr lang="en-US" dirty="0">
                <a:latin typeface="Arial Nova" panose="020B0504020202020204" pitchFamily="34" charset="0"/>
              </a:rPr>
              <a:t>Dr. Fatma Betul DINCASLAN</a:t>
            </a:r>
          </a:p>
        </p:txBody>
      </p:sp>
      <p:sp>
        <p:nvSpPr>
          <p:cNvPr id="6" name="TextBox 5">
            <a:extLst>
              <a:ext uri="{FF2B5EF4-FFF2-40B4-BE49-F238E27FC236}">
                <a16:creationId xmlns:a16="http://schemas.microsoft.com/office/drawing/2014/main" id="{3FE6B036-83D8-5E09-06DD-02F636D598A9}"/>
              </a:ext>
            </a:extLst>
          </p:cNvPr>
          <p:cNvSpPr txBox="1"/>
          <p:nvPr/>
        </p:nvSpPr>
        <p:spPr>
          <a:xfrm>
            <a:off x="2743200" y="2505630"/>
            <a:ext cx="6324617" cy="369332"/>
          </a:xfrm>
          <a:prstGeom prst="rect">
            <a:avLst/>
          </a:prstGeom>
          <a:noFill/>
        </p:spPr>
        <p:txBody>
          <a:bodyPr wrap="none" rtlCol="0">
            <a:spAutoFit/>
          </a:bodyPr>
          <a:lstStyle/>
          <a:p>
            <a:r>
              <a:rPr lang="en-US" i="1" dirty="0"/>
              <a:t>Disclaimer: I am not such an expert. This is just to give an idea.</a:t>
            </a:r>
          </a:p>
        </p:txBody>
      </p:sp>
    </p:spTree>
    <p:extLst>
      <p:ext uri="{BB962C8B-B14F-4D97-AF65-F5344CB8AC3E}">
        <p14:creationId xmlns:p14="http://schemas.microsoft.com/office/powerpoint/2010/main" val="4103495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0791-DF2F-C590-6932-CD6805B49BA9}"/>
              </a:ext>
            </a:extLst>
          </p:cNvPr>
          <p:cNvSpPr>
            <a:spLocks noGrp="1"/>
          </p:cNvSpPr>
          <p:nvPr>
            <p:ph type="title"/>
          </p:nvPr>
        </p:nvSpPr>
        <p:spPr/>
        <p:txBody>
          <a:bodyPr>
            <a:normAutofit/>
          </a:bodyPr>
          <a:lstStyle/>
          <a:p>
            <a:r>
              <a:rPr lang="en-US" sz="3600" dirty="0">
                <a:latin typeface="Arial Nova" panose="020B0504020202020204" pitchFamily="34" charset="0"/>
              </a:rPr>
              <a:t>What Is Digital Visibility?</a:t>
            </a:r>
          </a:p>
        </p:txBody>
      </p:sp>
      <p:sp>
        <p:nvSpPr>
          <p:cNvPr id="3" name="Content Placeholder 2">
            <a:extLst>
              <a:ext uri="{FF2B5EF4-FFF2-40B4-BE49-F238E27FC236}">
                <a16:creationId xmlns:a16="http://schemas.microsoft.com/office/drawing/2014/main" id="{917721CE-7B70-5EFC-5B05-5585E7E11C8D}"/>
              </a:ext>
            </a:extLst>
          </p:cNvPr>
          <p:cNvSpPr>
            <a:spLocks noGrp="1"/>
          </p:cNvSpPr>
          <p:nvPr>
            <p:ph idx="1"/>
          </p:nvPr>
        </p:nvSpPr>
        <p:spPr>
          <a:xfrm>
            <a:off x="838200" y="1825625"/>
            <a:ext cx="3975100" cy="4351338"/>
          </a:xfrm>
        </p:spPr>
        <p:txBody>
          <a:bodyPr>
            <a:normAutofit/>
          </a:bodyPr>
          <a:lstStyle/>
          <a:p>
            <a:r>
              <a:rPr lang="en-US" sz="2000" dirty="0">
                <a:latin typeface="Arial Nova" panose="020B0504020202020204" pitchFamily="34" charset="0"/>
              </a:rPr>
              <a:t>It is NOT simply </a:t>
            </a:r>
            <a:r>
              <a:rPr lang="en-US" sz="2000" strike="sngStrike" dirty="0">
                <a:latin typeface="Arial Nova" panose="020B0504020202020204" pitchFamily="34" charset="0"/>
              </a:rPr>
              <a:t>self-promotion</a:t>
            </a:r>
          </a:p>
          <a:p>
            <a:r>
              <a:rPr lang="en-US" sz="2000" dirty="0">
                <a:latin typeface="Arial Nova" panose="020B0504020202020204" pitchFamily="34" charset="0"/>
              </a:rPr>
              <a:t>It is about </a:t>
            </a:r>
            <a:r>
              <a:rPr lang="en-US" sz="2000" b="1" dirty="0">
                <a:latin typeface="Arial Nova" panose="020B0504020202020204" pitchFamily="34" charset="0"/>
              </a:rPr>
              <a:t>strategic narration of your professional contributions online</a:t>
            </a:r>
          </a:p>
          <a:p>
            <a:r>
              <a:rPr lang="en-US" sz="2000" dirty="0">
                <a:latin typeface="Arial Nova" panose="020B0504020202020204" pitchFamily="34" charset="0"/>
              </a:rPr>
              <a:t>Also, about how easily your contribution to research, community and expertise can be found</a:t>
            </a:r>
          </a:p>
          <a:p>
            <a:r>
              <a:rPr lang="en-US" sz="2000" dirty="0">
                <a:latin typeface="Arial Nova" panose="020B0504020202020204" pitchFamily="34" charset="0"/>
              </a:rPr>
              <a:t>Enhancing academic impact through digital marketing strategies might help </a:t>
            </a:r>
            <a:r>
              <a:rPr lang="en-US" sz="1600" dirty="0">
                <a:latin typeface="Arial Nova" panose="020B0504020202020204" pitchFamily="34" charset="0"/>
              </a:rPr>
              <a:t>(welcome to 21</a:t>
            </a:r>
            <a:r>
              <a:rPr lang="en-US" sz="1600" baseline="30000" dirty="0">
                <a:latin typeface="Arial Nova" panose="020B0504020202020204" pitchFamily="34" charset="0"/>
              </a:rPr>
              <a:t>st</a:t>
            </a:r>
            <a:r>
              <a:rPr lang="en-US" sz="1600" dirty="0">
                <a:latin typeface="Arial Nova" panose="020B0504020202020204" pitchFamily="34" charset="0"/>
              </a:rPr>
              <a:t> century!)</a:t>
            </a:r>
          </a:p>
        </p:txBody>
      </p:sp>
      <p:pic>
        <p:nvPicPr>
          <p:cNvPr id="5" name="Picture 4">
            <a:extLst>
              <a:ext uri="{FF2B5EF4-FFF2-40B4-BE49-F238E27FC236}">
                <a16:creationId xmlns:a16="http://schemas.microsoft.com/office/drawing/2014/main" id="{612DABF0-E4C1-200F-ABAD-A919636E56C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88000" y="1690688"/>
            <a:ext cx="5653617" cy="3350292"/>
          </a:xfrm>
          <a:prstGeom prst="rect">
            <a:avLst/>
          </a:prstGeom>
        </p:spPr>
      </p:pic>
      <p:sp>
        <p:nvSpPr>
          <p:cNvPr id="7" name="TextBox 6">
            <a:extLst>
              <a:ext uri="{FF2B5EF4-FFF2-40B4-BE49-F238E27FC236}">
                <a16:creationId xmlns:a16="http://schemas.microsoft.com/office/drawing/2014/main" id="{75D20250-5C4C-58B1-602F-FA0C306AC9A3}"/>
              </a:ext>
            </a:extLst>
          </p:cNvPr>
          <p:cNvSpPr txBox="1"/>
          <p:nvPr/>
        </p:nvSpPr>
        <p:spPr>
          <a:xfrm>
            <a:off x="7493000" y="5167312"/>
            <a:ext cx="6096000" cy="215444"/>
          </a:xfrm>
          <a:prstGeom prst="rect">
            <a:avLst/>
          </a:prstGeom>
          <a:noFill/>
        </p:spPr>
        <p:txBody>
          <a:bodyPr wrap="square">
            <a:spAutoFit/>
          </a:bodyPr>
          <a:lstStyle/>
          <a:p>
            <a:r>
              <a:rPr lang="en-US" sz="800" dirty="0"/>
              <a:t>https://</a:t>
            </a:r>
            <a:r>
              <a:rPr lang="en-US" sz="800" dirty="0" err="1"/>
              <a:t>www.tandfonline.com</a:t>
            </a:r>
            <a:r>
              <a:rPr lang="en-US" sz="800" dirty="0"/>
              <a:t>/</a:t>
            </a:r>
            <a:r>
              <a:rPr lang="en-US" sz="800" dirty="0" err="1"/>
              <a:t>doi</a:t>
            </a:r>
            <a:r>
              <a:rPr lang="en-US" sz="800" dirty="0"/>
              <a:t>/full/10.1080/08911762.2025.2554430#abstract</a:t>
            </a:r>
          </a:p>
        </p:txBody>
      </p:sp>
    </p:spTree>
    <p:extLst>
      <p:ext uri="{BB962C8B-B14F-4D97-AF65-F5344CB8AC3E}">
        <p14:creationId xmlns:p14="http://schemas.microsoft.com/office/powerpoint/2010/main" val="401494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682D6-CC47-2987-2950-73C7374857D6}"/>
              </a:ext>
            </a:extLst>
          </p:cNvPr>
          <p:cNvSpPr>
            <a:spLocks noGrp="1"/>
          </p:cNvSpPr>
          <p:nvPr>
            <p:ph idx="1"/>
          </p:nvPr>
        </p:nvSpPr>
        <p:spPr>
          <a:xfrm>
            <a:off x="838200" y="1982033"/>
            <a:ext cx="5626100" cy="4351338"/>
          </a:xfrm>
        </p:spPr>
        <p:txBody>
          <a:bodyPr>
            <a:normAutofit/>
          </a:bodyPr>
          <a:lstStyle/>
          <a:p>
            <a:pPr marL="0" indent="0">
              <a:buNone/>
            </a:pPr>
            <a:r>
              <a:rPr lang="en-US" sz="2400" dirty="0">
                <a:latin typeface="Arial Nova" panose="020B0504020202020204" pitchFamily="34" charset="0"/>
              </a:rPr>
              <a:t>As an academic, </a:t>
            </a:r>
            <a:r>
              <a:rPr lang="en-US" sz="2400">
                <a:latin typeface="Arial Nova" panose="020B0504020202020204" pitchFamily="34" charset="0"/>
              </a:rPr>
              <a:t>the must-haves:</a:t>
            </a:r>
            <a:endParaRPr lang="en-US" sz="2400" dirty="0">
              <a:latin typeface="Arial Nova" panose="020B0504020202020204" pitchFamily="34" charset="0"/>
            </a:endParaRPr>
          </a:p>
          <a:p>
            <a:r>
              <a:rPr lang="en-US" sz="2400" b="1" dirty="0">
                <a:latin typeface="Arial Nova" panose="020B0504020202020204" pitchFamily="34" charset="0"/>
              </a:rPr>
              <a:t>ORCID </a:t>
            </a:r>
          </a:p>
          <a:p>
            <a:pPr lvl="1"/>
            <a:r>
              <a:rPr lang="en-US" sz="2000" dirty="0">
                <a:latin typeface="Arial Nova" panose="020B0504020202020204" pitchFamily="34" charset="0"/>
              </a:rPr>
              <a:t>Research contributions and work experience</a:t>
            </a:r>
          </a:p>
          <a:p>
            <a:r>
              <a:rPr lang="en-US" sz="2400" b="1" dirty="0">
                <a:latin typeface="Arial Nova" panose="020B0504020202020204" pitchFamily="34" charset="0"/>
              </a:rPr>
              <a:t>Google Scholar</a:t>
            </a:r>
          </a:p>
          <a:p>
            <a:pPr lvl="1"/>
            <a:r>
              <a:rPr lang="en-US" sz="2000" dirty="0">
                <a:latin typeface="Arial Nova" panose="020B0504020202020204" pitchFamily="34" charset="0"/>
              </a:rPr>
              <a:t>From posters, thesis and books to articles</a:t>
            </a:r>
          </a:p>
          <a:p>
            <a:r>
              <a:rPr lang="en-US" sz="2400" b="1" dirty="0">
                <a:latin typeface="Arial Nova" panose="020B0504020202020204" pitchFamily="34" charset="0"/>
              </a:rPr>
              <a:t>GitHub</a:t>
            </a:r>
          </a:p>
          <a:p>
            <a:pPr lvl="1"/>
            <a:r>
              <a:rPr lang="en-US" sz="2000" dirty="0" err="1">
                <a:latin typeface="Arial Nova" panose="020B0504020202020204" pitchFamily="34" charset="0"/>
              </a:rPr>
              <a:t>Zenodo</a:t>
            </a:r>
            <a:r>
              <a:rPr lang="en-US" sz="2000" dirty="0">
                <a:latin typeface="Arial Nova" panose="020B0504020202020204" pitchFamily="34" charset="0"/>
              </a:rPr>
              <a:t> or other alternatives</a:t>
            </a:r>
          </a:p>
          <a:p>
            <a:pPr lvl="1"/>
            <a:r>
              <a:rPr lang="en-US" sz="2000" dirty="0">
                <a:latin typeface="Arial Nova" panose="020B0504020202020204" pitchFamily="34" charset="0"/>
              </a:rPr>
              <a:t>For codes/scripts and data analysis</a:t>
            </a:r>
          </a:p>
          <a:p>
            <a:r>
              <a:rPr lang="en-US" sz="2400" b="1" dirty="0">
                <a:latin typeface="Arial Nova" panose="020B0504020202020204" pitchFamily="34" charset="0"/>
              </a:rPr>
              <a:t>Institutional pages </a:t>
            </a:r>
            <a:r>
              <a:rPr lang="en-US" sz="2400" dirty="0">
                <a:latin typeface="Arial Nova" panose="020B0504020202020204" pitchFamily="34" charset="0"/>
              </a:rPr>
              <a:t>(if available)</a:t>
            </a:r>
          </a:p>
        </p:txBody>
      </p:sp>
      <p:sp>
        <p:nvSpPr>
          <p:cNvPr id="4" name="Title 1">
            <a:extLst>
              <a:ext uri="{FF2B5EF4-FFF2-40B4-BE49-F238E27FC236}">
                <a16:creationId xmlns:a16="http://schemas.microsoft.com/office/drawing/2014/main" id="{89D5B4BC-FCAE-BB05-6EEE-3B8B88D5E464}"/>
              </a:ext>
            </a:extLst>
          </p:cNvPr>
          <p:cNvSpPr>
            <a:spLocks noGrp="1"/>
          </p:cNvSpPr>
          <p:nvPr>
            <p:ph type="title"/>
          </p:nvPr>
        </p:nvSpPr>
        <p:spPr/>
        <p:txBody>
          <a:bodyPr>
            <a:normAutofit/>
          </a:bodyPr>
          <a:lstStyle/>
          <a:p>
            <a:r>
              <a:rPr lang="en-US" sz="3600" dirty="0">
                <a:latin typeface="Arial Nova" panose="020B0504020202020204" pitchFamily="34" charset="0"/>
              </a:rPr>
              <a:t>How to Build Professional Presence Online?</a:t>
            </a:r>
            <a:endParaRPr lang="en-US" sz="3600" dirty="0"/>
          </a:p>
        </p:txBody>
      </p:sp>
      <p:pic>
        <p:nvPicPr>
          <p:cNvPr id="5" name="Picture 4" descr="ORCID®">
            <a:extLst>
              <a:ext uri="{FF2B5EF4-FFF2-40B4-BE49-F238E27FC236}">
                <a16:creationId xmlns:a16="http://schemas.microsoft.com/office/drawing/2014/main" id="{1CE05EFC-4C92-04D5-8904-10CC127EC8EF}"/>
              </a:ext>
            </a:extLst>
          </p:cNvPr>
          <p:cNvPicPr>
            <a:picLocks noChangeAspect="1"/>
          </p:cNvPicPr>
          <p:nvPr/>
        </p:nvPicPr>
        <p:blipFill>
          <a:blip r:embed="rId3"/>
          <a:stretch>
            <a:fillRect/>
          </a:stretch>
        </p:blipFill>
        <p:spPr>
          <a:xfrm>
            <a:off x="6760297" y="2378724"/>
            <a:ext cx="2603500" cy="1050276"/>
          </a:xfrm>
          <a:prstGeom prst="rect">
            <a:avLst/>
          </a:prstGeom>
        </p:spPr>
      </p:pic>
      <p:pic>
        <p:nvPicPr>
          <p:cNvPr id="6" name="Picture 5" descr="Streamlining Research with Google Scholar: Discovering Reliable Sources with AI Technology">
            <a:extLst>
              <a:ext uri="{FF2B5EF4-FFF2-40B4-BE49-F238E27FC236}">
                <a16:creationId xmlns:a16="http://schemas.microsoft.com/office/drawing/2014/main" id="{A31E7723-3083-1F45-B4FF-93489066FF1B}"/>
              </a:ext>
            </a:extLst>
          </p:cNvPr>
          <p:cNvPicPr>
            <a:picLocks noChangeAspect="1"/>
          </p:cNvPicPr>
          <p:nvPr/>
        </p:nvPicPr>
        <p:blipFill>
          <a:blip r:embed="rId4"/>
          <a:stretch>
            <a:fillRect/>
          </a:stretch>
        </p:blipFill>
        <p:spPr>
          <a:xfrm>
            <a:off x="9416713" y="2125846"/>
            <a:ext cx="2233084" cy="1556032"/>
          </a:xfrm>
          <a:prstGeom prst="rect">
            <a:avLst/>
          </a:prstGeom>
        </p:spPr>
      </p:pic>
      <p:pic>
        <p:nvPicPr>
          <p:cNvPr id="7" name="Picture 6">
            <a:extLst>
              <a:ext uri="{FF2B5EF4-FFF2-40B4-BE49-F238E27FC236}">
                <a16:creationId xmlns:a16="http://schemas.microsoft.com/office/drawing/2014/main" id="{77143416-550E-B5ED-6E45-07BE45F9D279}"/>
              </a:ext>
            </a:extLst>
          </p:cNvPr>
          <p:cNvPicPr>
            <a:picLocks noChangeAspect="1"/>
          </p:cNvPicPr>
          <p:nvPr/>
        </p:nvPicPr>
        <p:blipFill>
          <a:blip r:embed="rId5"/>
          <a:stretch>
            <a:fillRect/>
          </a:stretch>
        </p:blipFill>
        <p:spPr>
          <a:xfrm>
            <a:off x="6594140" y="3977025"/>
            <a:ext cx="2769658" cy="1534991"/>
          </a:xfrm>
          <a:prstGeom prst="rect">
            <a:avLst/>
          </a:prstGeom>
        </p:spPr>
      </p:pic>
      <p:sp>
        <p:nvSpPr>
          <p:cNvPr id="8" name="TextBox 7">
            <a:extLst>
              <a:ext uri="{FF2B5EF4-FFF2-40B4-BE49-F238E27FC236}">
                <a16:creationId xmlns:a16="http://schemas.microsoft.com/office/drawing/2014/main" id="{3C8C53F4-0AC4-7846-F738-34FC6228ED1A}"/>
              </a:ext>
            </a:extLst>
          </p:cNvPr>
          <p:cNvSpPr txBox="1"/>
          <p:nvPr/>
        </p:nvSpPr>
        <p:spPr>
          <a:xfrm>
            <a:off x="6550747" y="3717458"/>
            <a:ext cx="2813050" cy="276999"/>
          </a:xfrm>
          <a:prstGeom prst="rect">
            <a:avLst/>
          </a:prstGeom>
          <a:solidFill>
            <a:schemeClr val="accent1"/>
          </a:solidFill>
        </p:spPr>
        <p:txBody>
          <a:bodyPr wrap="square" rtlCol="0">
            <a:spAutoFit/>
          </a:bodyPr>
          <a:lstStyle/>
          <a:p>
            <a:r>
              <a:rPr lang="en-US" sz="1200" dirty="0">
                <a:solidFill>
                  <a:schemeClr val="bg1"/>
                </a:solidFill>
                <a:latin typeface="Arial Nova" panose="020B0504020202020204" pitchFamily="34" charset="0"/>
              </a:rPr>
              <a:t>Example school associated webpage</a:t>
            </a:r>
          </a:p>
        </p:txBody>
      </p:sp>
      <p:pic>
        <p:nvPicPr>
          <p:cNvPr id="9" name="Picture 8" descr="Git &amp; Github | Kubesimplify">
            <a:extLst>
              <a:ext uri="{FF2B5EF4-FFF2-40B4-BE49-F238E27FC236}">
                <a16:creationId xmlns:a16="http://schemas.microsoft.com/office/drawing/2014/main" id="{91492B3F-5C8B-6564-716C-57E26EAAB94D}"/>
              </a:ext>
            </a:extLst>
          </p:cNvPr>
          <p:cNvPicPr>
            <a:picLocks noChangeAspect="1"/>
          </p:cNvPicPr>
          <p:nvPr/>
        </p:nvPicPr>
        <p:blipFill>
          <a:blip r:embed="rId6"/>
          <a:stretch>
            <a:fillRect/>
          </a:stretch>
        </p:blipFill>
        <p:spPr>
          <a:xfrm>
            <a:off x="9416713" y="3692534"/>
            <a:ext cx="2343150" cy="1314450"/>
          </a:xfrm>
          <a:prstGeom prst="rect">
            <a:avLst/>
          </a:prstGeom>
        </p:spPr>
      </p:pic>
    </p:spTree>
    <p:extLst>
      <p:ext uri="{BB962C8B-B14F-4D97-AF65-F5344CB8AC3E}">
        <p14:creationId xmlns:p14="http://schemas.microsoft.com/office/powerpoint/2010/main" val="2931903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56ECB-37B5-D32E-2754-F360F278DF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F0BD8F-8699-3645-4946-FB60BA6FCCA9}"/>
              </a:ext>
            </a:extLst>
          </p:cNvPr>
          <p:cNvSpPr>
            <a:spLocks noGrp="1"/>
          </p:cNvSpPr>
          <p:nvPr>
            <p:ph idx="1"/>
          </p:nvPr>
        </p:nvSpPr>
        <p:spPr>
          <a:xfrm>
            <a:off x="838200" y="1825625"/>
            <a:ext cx="6553200" cy="4351338"/>
          </a:xfrm>
        </p:spPr>
        <p:txBody>
          <a:bodyPr/>
          <a:lstStyle/>
          <a:p>
            <a:r>
              <a:rPr lang="en-US" sz="2000" dirty="0">
                <a:latin typeface="Arial Nova" panose="020B0504020202020204" pitchFamily="34" charset="0"/>
              </a:rPr>
              <a:t>Twitter is not the only way, there are alternatives</a:t>
            </a:r>
            <a:endParaRPr lang="en-US" sz="2000" b="1" dirty="0">
              <a:latin typeface="Arial Nova" panose="020B0504020202020204" pitchFamily="34" charset="0"/>
            </a:endParaRPr>
          </a:p>
          <a:p>
            <a:endParaRPr lang="en-US" dirty="0">
              <a:latin typeface="Arial Nova" panose="020B0504020202020204" pitchFamily="34" charset="0"/>
            </a:endParaRPr>
          </a:p>
        </p:txBody>
      </p:sp>
      <p:pic>
        <p:nvPicPr>
          <p:cNvPr id="4" name="Picture 3" descr="PHD Comics: Why Academics Really Use Twitter">
            <a:extLst>
              <a:ext uri="{FF2B5EF4-FFF2-40B4-BE49-F238E27FC236}">
                <a16:creationId xmlns:a16="http://schemas.microsoft.com/office/drawing/2014/main" id="{B1CBF628-1576-0807-FE29-98ABD09F1548}"/>
              </a:ext>
            </a:extLst>
          </p:cNvPr>
          <p:cNvPicPr>
            <a:picLocks noChangeAspect="1"/>
          </p:cNvPicPr>
          <p:nvPr/>
        </p:nvPicPr>
        <p:blipFill>
          <a:blip r:embed="rId3"/>
          <a:stretch>
            <a:fillRect/>
          </a:stretch>
        </p:blipFill>
        <p:spPr>
          <a:xfrm>
            <a:off x="8064500" y="1741905"/>
            <a:ext cx="3420533" cy="4104639"/>
          </a:xfrm>
          <a:prstGeom prst="rect">
            <a:avLst/>
          </a:prstGeom>
        </p:spPr>
      </p:pic>
      <p:pic>
        <p:nvPicPr>
          <p:cNvPr id="6" name="Picture 5" descr="File:POSSE-2012-312.jpeg">
            <a:extLst>
              <a:ext uri="{FF2B5EF4-FFF2-40B4-BE49-F238E27FC236}">
                <a16:creationId xmlns:a16="http://schemas.microsoft.com/office/drawing/2014/main" id="{C2F9DCC8-0192-9FD1-8CE1-FC557AD8DBA6}"/>
              </a:ext>
            </a:extLst>
          </p:cNvPr>
          <p:cNvPicPr>
            <a:picLocks noChangeAspect="1"/>
          </p:cNvPicPr>
          <p:nvPr/>
        </p:nvPicPr>
        <p:blipFill>
          <a:blip r:embed="rId4"/>
          <a:stretch>
            <a:fillRect/>
          </a:stretch>
        </p:blipFill>
        <p:spPr>
          <a:xfrm>
            <a:off x="882650" y="2668704"/>
            <a:ext cx="2501900" cy="2501900"/>
          </a:xfrm>
          <a:prstGeom prst="rect">
            <a:avLst/>
          </a:prstGeom>
        </p:spPr>
      </p:pic>
      <p:sp>
        <p:nvSpPr>
          <p:cNvPr id="7" name="Title 1">
            <a:extLst>
              <a:ext uri="{FF2B5EF4-FFF2-40B4-BE49-F238E27FC236}">
                <a16:creationId xmlns:a16="http://schemas.microsoft.com/office/drawing/2014/main" id="{4E869FD6-9709-111E-AE6A-B7C82F1A1182}"/>
              </a:ext>
            </a:extLst>
          </p:cNvPr>
          <p:cNvSpPr>
            <a:spLocks noGrp="1"/>
          </p:cNvSpPr>
          <p:nvPr>
            <p:ph type="title"/>
          </p:nvPr>
        </p:nvSpPr>
        <p:spPr>
          <a:xfrm>
            <a:off x="838200" y="365125"/>
            <a:ext cx="10515600" cy="1325563"/>
          </a:xfrm>
        </p:spPr>
        <p:txBody>
          <a:bodyPr>
            <a:normAutofit/>
          </a:bodyPr>
          <a:lstStyle/>
          <a:p>
            <a:r>
              <a:rPr lang="en-US" sz="3600" dirty="0">
                <a:latin typeface="Arial Nova" panose="020B0504020202020204" pitchFamily="34" charset="0"/>
              </a:rPr>
              <a:t>How to Build Professional Presence Online?</a:t>
            </a:r>
            <a:endParaRPr lang="en-US" sz="3600" dirty="0"/>
          </a:p>
        </p:txBody>
      </p:sp>
      <p:sp>
        <p:nvSpPr>
          <p:cNvPr id="9" name="TextBox 8">
            <a:extLst>
              <a:ext uri="{FF2B5EF4-FFF2-40B4-BE49-F238E27FC236}">
                <a16:creationId xmlns:a16="http://schemas.microsoft.com/office/drawing/2014/main" id="{932AEC9F-7287-3D4F-4D15-8CDECBD2F20E}"/>
              </a:ext>
            </a:extLst>
          </p:cNvPr>
          <p:cNvSpPr txBox="1"/>
          <p:nvPr/>
        </p:nvSpPr>
        <p:spPr>
          <a:xfrm>
            <a:off x="1066800" y="5305541"/>
            <a:ext cx="6096000" cy="215444"/>
          </a:xfrm>
          <a:prstGeom prst="rect">
            <a:avLst/>
          </a:prstGeom>
          <a:noFill/>
        </p:spPr>
        <p:txBody>
          <a:bodyPr wrap="square">
            <a:spAutoFit/>
          </a:bodyPr>
          <a:lstStyle/>
          <a:p>
            <a:r>
              <a:rPr lang="en-US" sz="800" dirty="0"/>
              <a:t>https://</a:t>
            </a:r>
            <a:r>
              <a:rPr lang="en-US" sz="800" dirty="0" err="1"/>
              <a:t>blog.stephenturner.us</a:t>
            </a:r>
            <a:r>
              <a:rPr lang="en-US" sz="800" dirty="0"/>
              <a:t>/p/technical-blogging</a:t>
            </a:r>
          </a:p>
        </p:txBody>
      </p:sp>
      <p:sp>
        <p:nvSpPr>
          <p:cNvPr id="10" name="TextBox 9">
            <a:extLst>
              <a:ext uri="{FF2B5EF4-FFF2-40B4-BE49-F238E27FC236}">
                <a16:creationId xmlns:a16="http://schemas.microsoft.com/office/drawing/2014/main" id="{685F76F7-02C8-07B8-980A-F21FAA477D90}"/>
              </a:ext>
            </a:extLst>
          </p:cNvPr>
          <p:cNvSpPr txBox="1"/>
          <p:nvPr/>
        </p:nvSpPr>
        <p:spPr>
          <a:xfrm>
            <a:off x="3949700" y="2412442"/>
            <a:ext cx="3630083" cy="3108543"/>
          </a:xfrm>
          <a:prstGeom prst="rect">
            <a:avLst/>
          </a:prstGeom>
          <a:solidFill>
            <a:schemeClr val="accent2">
              <a:lumMod val="20000"/>
              <a:lumOff val="80000"/>
            </a:schemeClr>
          </a:solidFill>
        </p:spPr>
        <p:txBody>
          <a:bodyPr wrap="square" rtlCol="0">
            <a:spAutoFit/>
          </a:bodyPr>
          <a:lstStyle/>
          <a:p>
            <a:r>
              <a:rPr lang="en-US" sz="1400" dirty="0">
                <a:latin typeface="Arial Nova" panose="020B0504020202020204" pitchFamily="34" charset="0"/>
              </a:rPr>
              <a:t>Some alternatives:</a:t>
            </a:r>
          </a:p>
          <a:p>
            <a:endParaRPr lang="en-US" sz="1400" dirty="0">
              <a:latin typeface="Arial Nova" panose="020B0504020202020204" pitchFamily="34" charset="0"/>
            </a:endParaRPr>
          </a:p>
          <a:p>
            <a:pPr marL="171450" indent="-171450">
              <a:buFont typeface="Arial" panose="020B0604020202020204" pitchFamily="34" charset="0"/>
              <a:buChar char="•"/>
            </a:pPr>
            <a:r>
              <a:rPr lang="en-US" sz="1400" b="1" dirty="0">
                <a:latin typeface="Arial Nova" panose="020B0504020202020204" pitchFamily="34" charset="0"/>
              </a:rPr>
              <a:t>Substack</a:t>
            </a:r>
            <a:r>
              <a:rPr lang="en-US" sz="1400" dirty="0">
                <a:latin typeface="Arial Nova" panose="020B0504020202020204" pitchFamily="34" charset="0"/>
              </a:rPr>
              <a:t> for personal blogging</a:t>
            </a:r>
          </a:p>
          <a:p>
            <a:pPr marL="171450" indent="-171450">
              <a:buFont typeface="Arial" panose="020B0604020202020204" pitchFamily="34" charset="0"/>
              <a:buChar char="•"/>
            </a:pPr>
            <a:r>
              <a:rPr lang="en-US" sz="1400" b="1" dirty="0">
                <a:latin typeface="Arial Nova" panose="020B0504020202020204" pitchFamily="34" charset="0"/>
              </a:rPr>
              <a:t>Medium</a:t>
            </a:r>
            <a:r>
              <a:rPr lang="en-US" sz="1400" dirty="0">
                <a:latin typeface="Arial Nova" panose="020B0504020202020204" pitchFamily="34" charset="0"/>
              </a:rPr>
              <a:t> for partner blogging programs </a:t>
            </a:r>
          </a:p>
          <a:p>
            <a:pPr marL="171450" indent="-171450">
              <a:buFont typeface="Arial" panose="020B0604020202020204" pitchFamily="34" charset="0"/>
              <a:buChar char="•"/>
            </a:pPr>
            <a:r>
              <a:rPr lang="en-US" sz="1400" b="1" dirty="0">
                <a:latin typeface="Arial Nova" panose="020B0504020202020204" pitchFamily="34" charset="0"/>
              </a:rPr>
              <a:t>YouTube </a:t>
            </a:r>
            <a:r>
              <a:rPr lang="en-US" sz="1400" dirty="0">
                <a:latin typeface="Arial Nova" panose="020B0504020202020204" pitchFamily="34" charset="0"/>
              </a:rPr>
              <a:t>for long videos</a:t>
            </a:r>
          </a:p>
          <a:p>
            <a:pPr marL="171450" indent="-171450">
              <a:buFont typeface="Arial" panose="020B0604020202020204" pitchFamily="34" charset="0"/>
              <a:buChar char="•"/>
            </a:pPr>
            <a:r>
              <a:rPr lang="en-US" sz="1400" b="1" dirty="0" err="1">
                <a:latin typeface="Arial Nova" panose="020B0504020202020204" pitchFamily="34" charset="0"/>
              </a:rPr>
              <a:t>Tiktok</a:t>
            </a:r>
            <a:r>
              <a:rPr lang="en-US" sz="1400" dirty="0">
                <a:latin typeface="Arial Nova" panose="020B0504020202020204" pitchFamily="34" charset="0"/>
              </a:rPr>
              <a:t> or </a:t>
            </a:r>
            <a:r>
              <a:rPr lang="en-US" sz="1400" b="1" dirty="0">
                <a:latin typeface="Arial Nova" panose="020B0504020202020204" pitchFamily="34" charset="0"/>
              </a:rPr>
              <a:t>Instagram</a:t>
            </a:r>
            <a:r>
              <a:rPr lang="en-US" sz="1400" dirty="0">
                <a:latin typeface="Arial Nova" panose="020B0504020202020204" pitchFamily="34" charset="0"/>
              </a:rPr>
              <a:t> for short videos</a:t>
            </a:r>
          </a:p>
          <a:p>
            <a:pPr marL="171450" indent="-171450">
              <a:buFont typeface="Arial" panose="020B0604020202020204" pitchFamily="34" charset="0"/>
              <a:buChar char="•"/>
            </a:pPr>
            <a:r>
              <a:rPr lang="en-US" sz="1400" b="1" dirty="0">
                <a:latin typeface="Arial Nova" panose="020B0504020202020204" pitchFamily="34" charset="0"/>
              </a:rPr>
              <a:t>Bluesky, Twitter </a:t>
            </a:r>
            <a:r>
              <a:rPr lang="en-US" sz="1400" dirty="0">
                <a:latin typeface="Arial Nova" panose="020B0504020202020204" pitchFamily="34" charset="0"/>
              </a:rPr>
              <a:t>or </a:t>
            </a:r>
            <a:r>
              <a:rPr lang="en-US" sz="1400" b="1" dirty="0">
                <a:latin typeface="Arial Nova" panose="020B0504020202020204" pitchFamily="34" charset="0"/>
              </a:rPr>
              <a:t>Mastodon</a:t>
            </a:r>
            <a:r>
              <a:rPr lang="en-US" sz="1400" dirty="0">
                <a:latin typeface="Arial Nova" panose="020B0504020202020204" pitchFamily="34" charset="0"/>
              </a:rPr>
              <a:t> for connecting and short discussions</a:t>
            </a:r>
          </a:p>
          <a:p>
            <a:pPr marL="171450" indent="-171450">
              <a:buFont typeface="Arial" panose="020B0604020202020204" pitchFamily="34" charset="0"/>
              <a:buChar char="•"/>
            </a:pPr>
            <a:r>
              <a:rPr lang="en-US" sz="1400" b="1" dirty="0">
                <a:latin typeface="Arial Nova" panose="020B0504020202020204" pitchFamily="34" charset="0"/>
              </a:rPr>
              <a:t>LinkedIn</a:t>
            </a:r>
            <a:r>
              <a:rPr lang="en-US" sz="1400" dirty="0">
                <a:latin typeface="Arial Nova" panose="020B0504020202020204" pitchFamily="34" charset="0"/>
              </a:rPr>
              <a:t> for professional connections and queries</a:t>
            </a:r>
          </a:p>
          <a:p>
            <a:pPr marL="171450" indent="-171450">
              <a:buFont typeface="Arial" panose="020B0604020202020204" pitchFamily="34" charset="0"/>
              <a:buChar char="•"/>
            </a:pPr>
            <a:r>
              <a:rPr lang="en-US" sz="1400" b="1" dirty="0">
                <a:latin typeface="Arial Nova" panose="020B0504020202020204" pitchFamily="34" charset="0"/>
              </a:rPr>
              <a:t>Discord</a:t>
            </a:r>
            <a:r>
              <a:rPr lang="en-US" sz="1400" dirty="0">
                <a:latin typeface="Arial Nova" panose="020B0504020202020204" pitchFamily="34" charset="0"/>
              </a:rPr>
              <a:t> for stream coding</a:t>
            </a:r>
          </a:p>
          <a:p>
            <a:pPr marL="171450" indent="-171450">
              <a:buFont typeface="Arial" panose="020B0604020202020204" pitchFamily="34" charset="0"/>
              <a:buChar char="•"/>
            </a:pPr>
            <a:r>
              <a:rPr lang="en-US" sz="1400" b="1" dirty="0">
                <a:latin typeface="Arial Nova" panose="020B0504020202020204" pitchFamily="34" charset="0"/>
              </a:rPr>
              <a:t>Reddit</a:t>
            </a:r>
            <a:r>
              <a:rPr lang="en-US" sz="1400" dirty="0">
                <a:latin typeface="Arial Nova" panose="020B0504020202020204" pitchFamily="34" charset="0"/>
              </a:rPr>
              <a:t> or </a:t>
            </a:r>
            <a:r>
              <a:rPr lang="en-US" sz="1400" b="1" dirty="0" err="1">
                <a:latin typeface="Arial Nova" panose="020B0504020202020204" pitchFamily="34" charset="0"/>
              </a:rPr>
              <a:t>StackOverflow</a:t>
            </a:r>
            <a:r>
              <a:rPr lang="en-US" sz="1400" dirty="0">
                <a:latin typeface="Arial Nova" panose="020B0504020202020204" pitchFamily="34" charset="0"/>
              </a:rPr>
              <a:t> for technical discussions</a:t>
            </a:r>
          </a:p>
          <a:p>
            <a:pPr marL="171450" indent="-171450">
              <a:buFont typeface="Arial" panose="020B0604020202020204" pitchFamily="34" charset="0"/>
              <a:buChar char="•"/>
            </a:pPr>
            <a:r>
              <a:rPr lang="en-US" sz="1400" b="1" dirty="0">
                <a:latin typeface="Arial Nova" panose="020B0504020202020204" pitchFamily="34" charset="0"/>
              </a:rPr>
              <a:t>Spotify</a:t>
            </a:r>
            <a:r>
              <a:rPr lang="en-US" sz="1400" dirty="0">
                <a:latin typeface="Arial Nova" panose="020B0504020202020204" pitchFamily="34" charset="0"/>
              </a:rPr>
              <a:t> for podcasts</a:t>
            </a:r>
          </a:p>
        </p:txBody>
      </p:sp>
    </p:spTree>
    <p:extLst>
      <p:ext uri="{BB962C8B-B14F-4D97-AF65-F5344CB8AC3E}">
        <p14:creationId xmlns:p14="http://schemas.microsoft.com/office/powerpoint/2010/main" val="1081564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81D7-4048-25FD-8E50-E08470BB5DC4}"/>
              </a:ext>
            </a:extLst>
          </p:cNvPr>
          <p:cNvSpPr>
            <a:spLocks noGrp="1"/>
          </p:cNvSpPr>
          <p:nvPr>
            <p:ph type="title"/>
          </p:nvPr>
        </p:nvSpPr>
        <p:spPr/>
        <p:txBody>
          <a:bodyPr>
            <a:normAutofit/>
          </a:bodyPr>
          <a:lstStyle/>
          <a:p>
            <a:r>
              <a:rPr lang="en-US" sz="3600" dirty="0">
                <a:latin typeface="Arial Nova" panose="020B0504020202020204" pitchFamily="34" charset="0"/>
              </a:rPr>
              <a:t>How to Build Digital Visibility</a:t>
            </a:r>
            <a:endParaRPr lang="en-US" sz="3600" dirty="0"/>
          </a:p>
        </p:txBody>
      </p:sp>
      <p:sp>
        <p:nvSpPr>
          <p:cNvPr id="3" name="Content Placeholder 2">
            <a:extLst>
              <a:ext uri="{FF2B5EF4-FFF2-40B4-BE49-F238E27FC236}">
                <a16:creationId xmlns:a16="http://schemas.microsoft.com/office/drawing/2014/main" id="{76339C04-0EB2-1A39-3859-C1E3EEA3C978}"/>
              </a:ext>
            </a:extLst>
          </p:cNvPr>
          <p:cNvSpPr>
            <a:spLocks noGrp="1"/>
          </p:cNvSpPr>
          <p:nvPr>
            <p:ph idx="1"/>
          </p:nvPr>
        </p:nvSpPr>
        <p:spPr>
          <a:xfrm>
            <a:off x="838200" y="1549400"/>
            <a:ext cx="7399829" cy="4943475"/>
          </a:xfrm>
        </p:spPr>
        <p:txBody>
          <a:bodyPr>
            <a:normAutofit lnSpcReduction="10000"/>
          </a:bodyPr>
          <a:lstStyle/>
          <a:p>
            <a:r>
              <a:rPr lang="en-US" sz="1400" b="1" dirty="0">
                <a:latin typeface="Arial Nova" panose="020B0504020202020204" pitchFamily="34" charset="0"/>
              </a:rPr>
              <a:t>Set a goal </a:t>
            </a:r>
          </a:p>
          <a:p>
            <a:pPr lvl="1"/>
            <a:r>
              <a:rPr lang="en-US" sz="1200" dirty="0">
                <a:latin typeface="Arial Nova" panose="020B0504020202020204" pitchFamily="34" charset="0"/>
              </a:rPr>
              <a:t>Is it technical blogging, leveraging professional connections or finding a date? </a:t>
            </a:r>
          </a:p>
          <a:p>
            <a:pPr lvl="1"/>
            <a:r>
              <a:rPr lang="en-US" sz="1200" dirty="0">
                <a:latin typeface="Arial Nova" panose="020B0504020202020204" pitchFamily="34" charset="0"/>
              </a:rPr>
              <a:t>Then find the right platform and use accordingly (not adjust your position based on the platform).</a:t>
            </a:r>
          </a:p>
          <a:p>
            <a:r>
              <a:rPr lang="en-US" sz="1400" b="1" dirty="0">
                <a:latin typeface="Arial Nova" panose="020B0504020202020204" pitchFamily="34" charset="0"/>
              </a:rPr>
              <a:t>Invest time </a:t>
            </a:r>
          </a:p>
          <a:p>
            <a:pPr lvl="1"/>
            <a:r>
              <a:rPr lang="en-US" sz="1200" dirty="0">
                <a:latin typeface="Arial Nova" panose="020B0504020202020204" pitchFamily="34" charset="0"/>
              </a:rPr>
              <a:t>Understand the platform basics and rules</a:t>
            </a:r>
          </a:p>
          <a:p>
            <a:pPr lvl="1"/>
            <a:r>
              <a:rPr lang="en-US" sz="1200" dirty="0">
                <a:latin typeface="Arial Nova" panose="020B0504020202020204" pitchFamily="34" charset="0"/>
              </a:rPr>
              <a:t>Know your target audience</a:t>
            </a:r>
          </a:p>
          <a:p>
            <a:pPr lvl="1"/>
            <a:r>
              <a:rPr lang="en-US" sz="1200" dirty="0">
                <a:latin typeface="Arial Nova" panose="020B0504020202020204" pitchFamily="34" charset="0"/>
              </a:rPr>
              <a:t>Perhaps use some hashtags (#) whenever it is required</a:t>
            </a:r>
            <a:endParaRPr lang="en-US" sz="900" dirty="0">
              <a:latin typeface="Arial Nova" panose="020B0504020202020204" pitchFamily="34" charset="0"/>
            </a:endParaRPr>
          </a:p>
          <a:p>
            <a:r>
              <a:rPr lang="en-US" sz="1400" dirty="0">
                <a:latin typeface="Arial Nova" panose="020B0504020202020204" pitchFamily="34" charset="0"/>
              </a:rPr>
              <a:t>Have </a:t>
            </a:r>
            <a:r>
              <a:rPr lang="en-US" sz="1400" b="1" dirty="0">
                <a:latin typeface="Arial Nova" panose="020B0504020202020204" pitchFamily="34" charset="0"/>
              </a:rPr>
              <a:t>consistent</a:t>
            </a:r>
            <a:r>
              <a:rPr lang="en-US" sz="1400" dirty="0">
                <a:latin typeface="Arial Nova" panose="020B0504020202020204" pitchFamily="34" charset="0"/>
              </a:rPr>
              <a:t> </a:t>
            </a:r>
            <a:r>
              <a:rPr lang="en-US" sz="1400" b="1" dirty="0">
                <a:latin typeface="Arial Nova" panose="020B0504020202020204" pitchFamily="34" charset="0"/>
              </a:rPr>
              <a:t>profile</a:t>
            </a:r>
            <a:r>
              <a:rPr lang="en-US" sz="1400" dirty="0">
                <a:latin typeface="Arial Nova" panose="020B0504020202020204" pitchFamily="34" charset="0"/>
              </a:rPr>
              <a:t> aligning with your goal</a:t>
            </a:r>
          </a:p>
          <a:p>
            <a:pPr lvl="1"/>
            <a:r>
              <a:rPr lang="en-US" sz="1200" dirty="0">
                <a:latin typeface="Arial Nova" panose="020B0504020202020204" pitchFamily="34" charset="0"/>
              </a:rPr>
              <a:t>For example, if it is professional, no need to promote your pictures from daily life all the time</a:t>
            </a:r>
          </a:p>
          <a:p>
            <a:r>
              <a:rPr lang="en-US" sz="1400" b="1" dirty="0">
                <a:latin typeface="Arial Nova" panose="020B0504020202020204" pitchFamily="34" charset="0"/>
              </a:rPr>
              <a:t>Keep the balance </a:t>
            </a:r>
          </a:p>
          <a:p>
            <a:pPr lvl="1"/>
            <a:r>
              <a:rPr lang="en-US" sz="1200" dirty="0">
                <a:latin typeface="Arial Nova" panose="020B0504020202020204" pitchFamily="34" charset="0"/>
              </a:rPr>
              <a:t>Not to shy to promote your work vs. being arrogant ignoring the value of others</a:t>
            </a:r>
            <a:endParaRPr lang="en-US" sz="1400" dirty="0">
              <a:latin typeface="Arial Nova" panose="020B0504020202020204" pitchFamily="34" charset="0"/>
            </a:endParaRPr>
          </a:p>
          <a:p>
            <a:r>
              <a:rPr lang="en-US" sz="1400" b="1" dirty="0">
                <a:latin typeface="Arial Nova" panose="020B0504020202020204" pitchFamily="34" charset="0"/>
              </a:rPr>
              <a:t>Be proactive</a:t>
            </a:r>
            <a:endParaRPr lang="en-US" sz="1400" dirty="0">
              <a:latin typeface="Arial Nova" panose="020B0504020202020204" pitchFamily="34" charset="0"/>
            </a:endParaRPr>
          </a:p>
          <a:p>
            <a:pPr lvl="1"/>
            <a:r>
              <a:rPr lang="en-US" sz="1200" dirty="0">
                <a:latin typeface="Arial Nova" panose="020B0504020202020204" pitchFamily="34" charset="0"/>
              </a:rPr>
              <a:t>To get the attention in the websites, keep sharing your expertise insights or relevant experiences</a:t>
            </a:r>
          </a:p>
          <a:p>
            <a:pPr lvl="1"/>
            <a:r>
              <a:rPr lang="en-US" sz="1200" dirty="0">
                <a:latin typeface="Arial Nova" panose="020B0504020202020204" pitchFamily="34" charset="0"/>
              </a:rPr>
              <a:t>Keep update and engage to be present</a:t>
            </a:r>
          </a:p>
          <a:p>
            <a:pPr lvl="1"/>
            <a:r>
              <a:rPr lang="en-US" sz="1200" dirty="0">
                <a:latin typeface="Arial Nova" panose="020B0504020202020204" pitchFamily="34" charset="0"/>
              </a:rPr>
              <a:t>Learn storytelling and follow some trends to be relatable</a:t>
            </a:r>
          </a:p>
          <a:p>
            <a:r>
              <a:rPr lang="en-US" sz="1400" b="1" dirty="0">
                <a:latin typeface="Arial Nova" panose="020B0504020202020204" pitchFamily="34" charset="0"/>
              </a:rPr>
              <a:t>Be authentic</a:t>
            </a:r>
          </a:p>
          <a:p>
            <a:pPr lvl="1"/>
            <a:r>
              <a:rPr lang="en-US" sz="1200" dirty="0">
                <a:latin typeface="Arial Nova" panose="020B0504020202020204" pitchFamily="34" charset="0"/>
              </a:rPr>
              <a:t>Remember it will be your brand</a:t>
            </a:r>
          </a:p>
          <a:p>
            <a:pPr lvl="1"/>
            <a:r>
              <a:rPr lang="en-US" sz="1200" dirty="0">
                <a:latin typeface="Arial Nova" panose="020B0504020202020204" pitchFamily="34" charset="0"/>
              </a:rPr>
              <a:t>Show how your perspective differs and contribute while respecting others (and be careful AI infusion to everything)</a:t>
            </a:r>
          </a:p>
          <a:p>
            <a:r>
              <a:rPr lang="en-US" sz="1400" dirty="0">
                <a:latin typeface="Arial Nova" panose="020B0504020202020204" pitchFamily="34" charset="0"/>
              </a:rPr>
              <a:t>Keep in mind about being </a:t>
            </a:r>
            <a:r>
              <a:rPr lang="en-US" sz="1400" i="1" dirty="0">
                <a:latin typeface="Arial Nova" panose="020B0504020202020204" pitchFamily="34" charset="0"/>
              </a:rPr>
              <a:t>accountable</a:t>
            </a:r>
            <a:r>
              <a:rPr lang="en-US" sz="1400" dirty="0">
                <a:latin typeface="Arial Nova" panose="020B0504020202020204" pitchFamily="34" charset="0"/>
              </a:rPr>
              <a:t>, </a:t>
            </a:r>
            <a:r>
              <a:rPr lang="en-US" sz="1400" i="1" dirty="0">
                <a:latin typeface="Arial Nova" panose="020B0504020202020204" pitchFamily="34" charset="0"/>
              </a:rPr>
              <a:t>transparent</a:t>
            </a:r>
            <a:r>
              <a:rPr lang="en-US" sz="1400" dirty="0">
                <a:latin typeface="Arial Nova" panose="020B0504020202020204" pitchFamily="34" charset="0"/>
              </a:rPr>
              <a:t> and </a:t>
            </a:r>
            <a:r>
              <a:rPr lang="en-US" sz="1400" i="1" dirty="0">
                <a:latin typeface="Arial Nova" panose="020B0504020202020204" pitchFamily="34" charset="0"/>
              </a:rPr>
              <a:t>verifiable</a:t>
            </a:r>
            <a:r>
              <a:rPr lang="en-US" sz="1400" dirty="0">
                <a:latin typeface="Arial Nova" panose="020B0504020202020204" pitchFamily="34" charset="0"/>
              </a:rPr>
              <a:t> profile</a:t>
            </a:r>
          </a:p>
          <a:p>
            <a:pPr lvl="1"/>
            <a:r>
              <a:rPr lang="en-US" sz="1200" dirty="0">
                <a:latin typeface="Arial Nova" panose="020B0504020202020204" pitchFamily="34" charset="0"/>
              </a:rPr>
              <a:t>Do not exaggerate or lie</a:t>
            </a:r>
          </a:p>
        </p:txBody>
      </p:sp>
      <p:pic>
        <p:nvPicPr>
          <p:cNvPr id="4" name="Picture 3" descr="Reading Glutton: Adulthood is a Myth, by Sarah Andersen">
            <a:extLst>
              <a:ext uri="{FF2B5EF4-FFF2-40B4-BE49-F238E27FC236}">
                <a16:creationId xmlns:a16="http://schemas.microsoft.com/office/drawing/2014/main" id="{82E52D5F-3AF0-586D-0569-EAC04551B5F9}"/>
              </a:ext>
            </a:extLst>
          </p:cNvPr>
          <p:cNvPicPr>
            <a:picLocks noChangeAspect="1"/>
          </p:cNvPicPr>
          <p:nvPr/>
        </p:nvPicPr>
        <p:blipFill>
          <a:blip r:embed="rId3"/>
          <a:stretch>
            <a:fillRect/>
          </a:stretch>
        </p:blipFill>
        <p:spPr>
          <a:xfrm>
            <a:off x="8238029" y="1236778"/>
            <a:ext cx="3357071" cy="5100522"/>
          </a:xfrm>
          <a:prstGeom prst="rect">
            <a:avLst/>
          </a:prstGeom>
        </p:spPr>
      </p:pic>
      <p:sp>
        <p:nvSpPr>
          <p:cNvPr id="5" name="TextBox 4">
            <a:extLst>
              <a:ext uri="{FF2B5EF4-FFF2-40B4-BE49-F238E27FC236}">
                <a16:creationId xmlns:a16="http://schemas.microsoft.com/office/drawing/2014/main" id="{71A7A7DD-993B-122F-C429-A05BB7B06CF8}"/>
              </a:ext>
            </a:extLst>
          </p:cNvPr>
          <p:cNvSpPr txBox="1"/>
          <p:nvPr/>
        </p:nvSpPr>
        <p:spPr>
          <a:xfrm>
            <a:off x="9258300" y="6229578"/>
            <a:ext cx="1669047" cy="215444"/>
          </a:xfrm>
          <a:prstGeom prst="rect">
            <a:avLst/>
          </a:prstGeom>
          <a:noFill/>
        </p:spPr>
        <p:txBody>
          <a:bodyPr wrap="none" rtlCol="0">
            <a:spAutoFit/>
          </a:bodyPr>
          <a:lstStyle/>
          <a:p>
            <a:r>
              <a:rPr lang="en-US" sz="800" dirty="0"/>
              <a:t>courtesy: Sarah Andersen comics</a:t>
            </a:r>
          </a:p>
        </p:txBody>
      </p:sp>
    </p:spTree>
    <p:extLst>
      <p:ext uri="{BB962C8B-B14F-4D97-AF65-F5344CB8AC3E}">
        <p14:creationId xmlns:p14="http://schemas.microsoft.com/office/powerpoint/2010/main" val="3919403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C5E91-5C25-FBC2-1F60-ADE9BC560DE5}"/>
              </a:ext>
            </a:extLst>
          </p:cNvPr>
          <p:cNvSpPr>
            <a:spLocks noGrp="1"/>
          </p:cNvSpPr>
          <p:nvPr>
            <p:ph type="title"/>
          </p:nvPr>
        </p:nvSpPr>
        <p:spPr/>
        <p:txBody>
          <a:bodyPr>
            <a:normAutofit/>
          </a:bodyPr>
          <a:lstStyle/>
          <a:p>
            <a:r>
              <a:rPr lang="en-US" sz="3600" dirty="0">
                <a:latin typeface="Arial Nova" panose="020B0504020202020204" pitchFamily="34" charset="0"/>
              </a:rPr>
              <a:t>Helpful Resources</a:t>
            </a:r>
          </a:p>
        </p:txBody>
      </p:sp>
      <p:sp>
        <p:nvSpPr>
          <p:cNvPr id="3" name="Content Placeholder 2">
            <a:extLst>
              <a:ext uri="{FF2B5EF4-FFF2-40B4-BE49-F238E27FC236}">
                <a16:creationId xmlns:a16="http://schemas.microsoft.com/office/drawing/2014/main" id="{191CE724-25C7-A879-B46D-A7E635E16C6B}"/>
              </a:ext>
            </a:extLst>
          </p:cNvPr>
          <p:cNvSpPr>
            <a:spLocks noGrp="1"/>
          </p:cNvSpPr>
          <p:nvPr>
            <p:ph idx="1"/>
          </p:nvPr>
        </p:nvSpPr>
        <p:spPr/>
        <p:txBody>
          <a:bodyPr>
            <a:normAutofit/>
          </a:bodyPr>
          <a:lstStyle/>
          <a:p>
            <a:endParaRPr lang="en-SG" dirty="0">
              <a:latin typeface="Arial Nova" panose="020B0504020202020204" pitchFamily="34" charset="0"/>
            </a:endParaRPr>
          </a:p>
          <a:p>
            <a:r>
              <a:rPr lang="en-SG" b="1" dirty="0">
                <a:latin typeface="Arial Nova" panose="020B0504020202020204" pitchFamily="34" charset="0"/>
              </a:rPr>
              <a:t>Technical blogging and visibility</a:t>
            </a:r>
            <a:r>
              <a:rPr lang="en-SG" dirty="0">
                <a:latin typeface="Arial Nova" panose="020B0504020202020204" pitchFamily="34" charset="0"/>
              </a:rPr>
              <a:t>: </a:t>
            </a:r>
            <a:r>
              <a:rPr lang="en-US" sz="1400" dirty="0">
                <a:hlinkClick r:id="rId2"/>
              </a:rPr>
              <a:t>https://blog.stephenturner.us/p/technical-blogging</a:t>
            </a:r>
            <a:r>
              <a:rPr lang="en-SG" sz="1400" dirty="0">
                <a:latin typeface="Arial Nova" panose="020B0504020202020204" pitchFamily="34" charset="0"/>
              </a:rPr>
              <a:t> </a:t>
            </a:r>
          </a:p>
          <a:p>
            <a:r>
              <a:rPr lang="en-US" b="1" dirty="0">
                <a:latin typeface="Arial Nova" panose="020B0504020202020204" pitchFamily="34" charset="0"/>
              </a:rPr>
              <a:t>Online visibility might simply increase the impact</a:t>
            </a:r>
            <a:r>
              <a:rPr lang="en-US" dirty="0">
                <a:latin typeface="Arial Nova" panose="020B0504020202020204" pitchFamily="34" charset="0"/>
              </a:rPr>
              <a:t>, </a:t>
            </a:r>
            <a:r>
              <a:rPr lang="en-US" sz="1400" dirty="0">
                <a:latin typeface="Arial Nova" panose="020B0504020202020204" pitchFamily="34" charset="0"/>
                <a:hlinkClick r:id="rId3"/>
              </a:rPr>
              <a:t>https://www.degruyterbrill.com/publishing/for-authors/tools-resources/how-to-promote-your-work-on-social-media</a:t>
            </a:r>
            <a:r>
              <a:rPr lang="en-US" sz="1400" dirty="0">
                <a:latin typeface="Arial Nova" panose="020B0504020202020204" pitchFamily="34" charset="0"/>
              </a:rPr>
              <a:t> </a:t>
            </a:r>
          </a:p>
          <a:p>
            <a:r>
              <a:rPr lang="en-US" b="1" dirty="0">
                <a:latin typeface="Arial Nova" panose="020B0504020202020204" pitchFamily="34" charset="0"/>
              </a:rPr>
              <a:t>Online visibility  basics: </a:t>
            </a:r>
            <a:r>
              <a:rPr lang="en-SG" sz="1500" dirty="0">
                <a:latin typeface="Arial Nova" panose="020B0504020202020204" pitchFamily="34" charset="0"/>
                <a:hlinkClick r:id="rId4"/>
              </a:rPr>
              <a:t>https://www.essex.ac.uk/blog/posts/2023/12/08/building-your-visibility-profile-and-networks-as-a-researcher-on-social-media</a:t>
            </a:r>
            <a:r>
              <a:rPr lang="en-SG" sz="1500" dirty="0">
                <a:latin typeface="Arial Nova" panose="020B0504020202020204" pitchFamily="34" charset="0"/>
              </a:rPr>
              <a:t> </a:t>
            </a:r>
          </a:p>
          <a:p>
            <a:r>
              <a:rPr lang="en-SG" b="1" dirty="0">
                <a:latin typeface="Arial Nova" panose="020B0504020202020204" pitchFamily="34" charset="0"/>
              </a:rPr>
              <a:t>THE on </a:t>
            </a:r>
            <a:r>
              <a:rPr lang="en-SG" b="1" dirty="0" err="1">
                <a:latin typeface="Arial Nova" panose="020B0504020202020204" pitchFamily="34" charset="0"/>
              </a:rPr>
              <a:t>Linkedin</a:t>
            </a:r>
            <a:r>
              <a:rPr lang="en-SG" dirty="0">
                <a:latin typeface="Arial Nova" panose="020B0504020202020204" pitchFamily="34" charset="0"/>
              </a:rPr>
              <a:t>: </a:t>
            </a:r>
            <a:r>
              <a:rPr lang="en-SG" sz="1400" dirty="0">
                <a:latin typeface="Arial Nova" panose="020B0504020202020204" pitchFamily="34" charset="0"/>
                <a:hlinkClick r:id="rId5"/>
              </a:rPr>
              <a:t>https://www.timeshighereducation.com/campus/building-your-research-profile-social-media-focus-linkedin</a:t>
            </a:r>
            <a:r>
              <a:rPr lang="en-SG" sz="1400" dirty="0">
                <a:latin typeface="Arial Nova" panose="020B0504020202020204" pitchFamily="34" charset="0"/>
              </a:rPr>
              <a:t> </a:t>
            </a:r>
          </a:p>
        </p:txBody>
      </p:sp>
    </p:spTree>
    <p:extLst>
      <p:ext uri="{BB962C8B-B14F-4D97-AF65-F5344CB8AC3E}">
        <p14:creationId xmlns:p14="http://schemas.microsoft.com/office/powerpoint/2010/main" val="513079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3638-A627-F2D3-BA59-41874F6069C4}"/>
              </a:ext>
            </a:extLst>
          </p:cNvPr>
          <p:cNvSpPr>
            <a:spLocks noGrp="1"/>
          </p:cNvSpPr>
          <p:nvPr>
            <p:ph type="title"/>
          </p:nvPr>
        </p:nvSpPr>
        <p:spPr/>
        <p:txBody>
          <a:bodyPr>
            <a:normAutofit/>
          </a:bodyPr>
          <a:lstStyle/>
          <a:p>
            <a:r>
              <a:rPr lang="en-US" sz="3600" dirty="0">
                <a:latin typeface="Arial Nova" panose="020B0504020202020204" pitchFamily="34" charset="0"/>
              </a:rPr>
              <a:t>Acknowledgements</a:t>
            </a:r>
          </a:p>
        </p:txBody>
      </p:sp>
      <p:sp>
        <p:nvSpPr>
          <p:cNvPr id="3" name="Content Placeholder 2">
            <a:extLst>
              <a:ext uri="{FF2B5EF4-FFF2-40B4-BE49-F238E27FC236}">
                <a16:creationId xmlns:a16="http://schemas.microsoft.com/office/drawing/2014/main" id="{B4CF64DE-6E96-A8BC-CFCD-F447974B7CE9}"/>
              </a:ext>
            </a:extLst>
          </p:cNvPr>
          <p:cNvSpPr>
            <a:spLocks noGrp="1"/>
          </p:cNvSpPr>
          <p:nvPr>
            <p:ph idx="1"/>
          </p:nvPr>
        </p:nvSpPr>
        <p:spPr>
          <a:xfrm>
            <a:off x="838199" y="1825625"/>
            <a:ext cx="10381343" cy="4351338"/>
          </a:xfrm>
        </p:spPr>
        <p:txBody>
          <a:bodyPr>
            <a:normAutofit/>
          </a:bodyPr>
          <a:lstStyle/>
          <a:p>
            <a:pPr marL="0" indent="0">
              <a:buNone/>
            </a:pPr>
            <a:r>
              <a:rPr lang="en-US" sz="2000" dirty="0">
                <a:latin typeface="Aptos" panose="020B0004020202020204" pitchFamily="34" charset="0"/>
              </a:rPr>
              <a:t>I prepared these ppts to give a detailed idea based on the discussions we had during the meetings with the incredible organizing committee of ECSC2026: </a:t>
            </a:r>
          </a:p>
          <a:p>
            <a:r>
              <a:rPr lang="en-US" dirty="0">
                <a:latin typeface="Aptos" panose="020B0004020202020204" pitchFamily="34" charset="0"/>
              </a:rPr>
              <a:t>Dr. </a:t>
            </a:r>
            <a:r>
              <a:rPr lang="en-US" b="1" dirty="0">
                <a:latin typeface="Aptos" panose="020B0004020202020204" pitchFamily="34" charset="0"/>
              </a:rPr>
              <a:t>Pradeep </a:t>
            </a:r>
            <a:r>
              <a:rPr lang="en-US" b="1" dirty="0" err="1">
                <a:latin typeface="Aptos" panose="020B0004020202020204" pitchFamily="34" charset="0"/>
              </a:rPr>
              <a:t>Eranti</a:t>
            </a:r>
            <a:endParaRPr lang="en-US" b="1" dirty="0">
              <a:latin typeface="Aptos" panose="020B0004020202020204" pitchFamily="34" charset="0"/>
            </a:endParaRPr>
          </a:p>
          <a:p>
            <a:r>
              <a:rPr lang="en-US" b="1" dirty="0">
                <a:latin typeface="Aptos" panose="020B0004020202020204" pitchFamily="34" charset="0"/>
              </a:rPr>
              <a:t>Paula Camargo Romero</a:t>
            </a:r>
          </a:p>
          <a:p>
            <a:r>
              <a:rPr lang="en-US" b="1" dirty="0">
                <a:latin typeface="Aptos" panose="020B0004020202020204" pitchFamily="34" charset="0"/>
              </a:rPr>
              <a:t>Victor </a:t>
            </a:r>
            <a:r>
              <a:rPr lang="en-US" b="1" dirty="0" err="1">
                <a:latin typeface="Aptos" panose="020B0004020202020204" pitchFamily="34" charset="0"/>
              </a:rPr>
              <a:t>Grentzinger</a:t>
            </a:r>
            <a:endParaRPr lang="en-US" b="1" dirty="0">
              <a:latin typeface="Aptos" panose="020B0004020202020204" pitchFamily="34" charset="0"/>
            </a:endParaRPr>
          </a:p>
          <a:p>
            <a:r>
              <a:rPr lang="en-US" dirty="0">
                <a:latin typeface="Aptos" panose="020B0004020202020204" pitchFamily="34" charset="0"/>
              </a:rPr>
              <a:t>Ankita Murmu</a:t>
            </a:r>
          </a:p>
          <a:p>
            <a:r>
              <a:rPr lang="en-US" dirty="0">
                <a:latin typeface="Aptos" panose="020B0004020202020204" pitchFamily="34" charset="0"/>
              </a:rPr>
              <a:t>Haseeb Manzoor</a:t>
            </a:r>
          </a:p>
          <a:p>
            <a:r>
              <a:rPr lang="en-US" dirty="0">
                <a:latin typeface="Aptos" panose="020B0004020202020204" pitchFamily="34" charset="0"/>
              </a:rPr>
              <a:t>Estefania Torrejón</a:t>
            </a:r>
          </a:p>
          <a:p>
            <a:r>
              <a:rPr lang="en-US" dirty="0">
                <a:latin typeface="Aptos" panose="020B0004020202020204" pitchFamily="34" charset="0"/>
              </a:rPr>
              <a:t>Elisabeth Hellec</a:t>
            </a:r>
          </a:p>
          <a:p>
            <a:endParaRPr lang="en-US" dirty="0">
              <a:latin typeface="Aptos" panose="020B0004020202020204" pitchFamily="34" charset="0"/>
            </a:endParaRPr>
          </a:p>
        </p:txBody>
      </p:sp>
      <p:pic>
        <p:nvPicPr>
          <p:cNvPr id="4" name="Picture 3" descr="ISCB Student Council">
            <a:extLst>
              <a:ext uri="{FF2B5EF4-FFF2-40B4-BE49-F238E27FC236}">
                <a16:creationId xmlns:a16="http://schemas.microsoft.com/office/drawing/2014/main" id="{9171C493-6EBA-C319-557D-F2EEA06C5BDF}"/>
              </a:ext>
            </a:extLst>
          </p:cNvPr>
          <p:cNvPicPr>
            <a:picLocks noChangeAspect="1"/>
          </p:cNvPicPr>
          <p:nvPr/>
        </p:nvPicPr>
        <p:blipFill>
          <a:blip r:embed="rId2"/>
          <a:stretch>
            <a:fillRect/>
          </a:stretch>
        </p:blipFill>
        <p:spPr>
          <a:xfrm>
            <a:off x="8839653" y="4708426"/>
            <a:ext cx="2162629" cy="750406"/>
          </a:xfrm>
          <a:prstGeom prst="rect">
            <a:avLst/>
          </a:prstGeom>
        </p:spPr>
      </p:pic>
      <p:pic>
        <p:nvPicPr>
          <p:cNvPr id="5" name="Picture 4" descr="International Society for Computational Biology">
            <a:extLst>
              <a:ext uri="{FF2B5EF4-FFF2-40B4-BE49-F238E27FC236}">
                <a16:creationId xmlns:a16="http://schemas.microsoft.com/office/drawing/2014/main" id="{0E051762-5E5B-ECDD-EA49-E6FEC26E9E5F}"/>
              </a:ext>
            </a:extLst>
          </p:cNvPr>
          <p:cNvPicPr>
            <a:picLocks noChangeAspect="1"/>
          </p:cNvPicPr>
          <p:nvPr/>
        </p:nvPicPr>
        <p:blipFill>
          <a:blip r:embed="rId3"/>
          <a:stretch>
            <a:fillRect/>
          </a:stretch>
        </p:blipFill>
        <p:spPr>
          <a:xfrm>
            <a:off x="6332764" y="4576899"/>
            <a:ext cx="1809750" cy="1013460"/>
          </a:xfrm>
          <a:prstGeom prst="rect">
            <a:avLst/>
          </a:prstGeom>
          <a:solidFill>
            <a:schemeClr val="tx2">
              <a:lumMod val="90000"/>
              <a:lumOff val="10000"/>
            </a:schemeClr>
          </a:solidFill>
          <a:ln>
            <a:solidFill>
              <a:schemeClr val="tx1"/>
            </a:solidFill>
          </a:ln>
        </p:spPr>
      </p:pic>
      <p:pic>
        <p:nvPicPr>
          <p:cNvPr id="6" name="Picture 5" descr="Linkedin_banner">
            <a:extLst>
              <a:ext uri="{FF2B5EF4-FFF2-40B4-BE49-F238E27FC236}">
                <a16:creationId xmlns:a16="http://schemas.microsoft.com/office/drawing/2014/main" id="{1A365BD6-566A-3DA8-3E31-A2BAA1013641}"/>
              </a:ext>
            </a:extLst>
          </p:cNvPr>
          <p:cNvPicPr>
            <a:picLocks noChangeAspect="1"/>
          </p:cNvPicPr>
          <p:nvPr/>
        </p:nvPicPr>
        <p:blipFill>
          <a:blip r:embed="rId4"/>
          <a:stretch>
            <a:fillRect/>
          </a:stretch>
        </p:blipFill>
        <p:spPr>
          <a:xfrm>
            <a:off x="6188755" y="2766276"/>
            <a:ext cx="4896080" cy="1224020"/>
          </a:xfrm>
          <a:prstGeom prst="rect">
            <a:avLst/>
          </a:prstGeom>
        </p:spPr>
      </p:pic>
    </p:spTree>
    <p:extLst>
      <p:ext uri="{BB962C8B-B14F-4D97-AF65-F5344CB8AC3E}">
        <p14:creationId xmlns:p14="http://schemas.microsoft.com/office/powerpoint/2010/main" val="3348011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TotalTime>
  <Words>793</Words>
  <Application>Microsoft Macintosh PowerPoint</Application>
  <PresentationFormat>Widescreen</PresentationFormat>
  <Paragraphs>83</Paragraphs>
  <Slides>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Arial Nova</vt:lpstr>
      <vt:lpstr>Office Theme</vt:lpstr>
      <vt:lpstr>How to Build Digital Visibility?</vt:lpstr>
      <vt:lpstr>What Is Digital Visibility?</vt:lpstr>
      <vt:lpstr>How to Build Professional Presence Online?</vt:lpstr>
      <vt:lpstr>How to Build Professional Presence Online?</vt:lpstr>
      <vt:lpstr>How to Build Digital Visibility</vt:lpstr>
      <vt:lpstr>Helpful Resources</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fatma betul dincaslan</dc:creator>
  <cp:lastModifiedBy>fatma betul dincaslan</cp:lastModifiedBy>
  <cp:revision>36</cp:revision>
  <dcterms:created xsi:type="dcterms:W3CDTF">2026-08-23T13:22:43Z</dcterms:created>
  <dcterms:modified xsi:type="dcterms:W3CDTF">2026-10-08T11:50:26Z</dcterms:modified>
</cp:coreProperties>
</file>